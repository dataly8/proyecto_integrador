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FFFFFF"/>
                </a:solidFill>
                <a:latin typeface="Segoe UI"/>
              </a:defRPr>
            </a:pPr>
            <a:r>
              <a:rPr lang="es-ES" sz="1250" b="0" i="0" u="none" strike="noStrike">
                <a:solidFill>
                  <a:srgbClr val="FFFFFF"/>
                </a:solidFill>
                <a:latin typeface="Segoe UI"/>
              </a:rPr>
              <a:t>Detección según la señal inyectada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 de detección</c:v>
                </c:pt>
              </c:strCache>
            </c:strRef>
          </c:tx>
          <c:spPr>
            <a:solidFill>
              <a:srgbClr val="3E9DB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50" b="1" i="0" u="none" strike="noStrike">
                    <a:solidFill>
                      <a:srgbClr val="FFFFFF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Sin señal
(control)</c:v>
                </c:pt>
                <c:pt idx="1">
                  <c:v>Señal débil</c:v>
                </c:pt>
                <c:pt idx="2">
                  <c:v>Señal fuerte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</c:v>
                </c:pt>
                <c:pt idx="1">
                  <c:v>2.09</c:v>
                </c:pt>
                <c:pt idx="2">
                  <c:v>2.42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80-4ADF-8D58-31C0ED7714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A9B4B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9525" cap="flat">
              <a:solidFill>
                <a:srgbClr val="2538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A9B4B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801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RavenStack es una empresa ficticia y los datos son sintéticos. Lo aclaro al principio porque condiciona la lectura de todo lo demás.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Verificar el modelo de negocio antes de definir el churn no es un trámite: condiciona toda la definición operativa.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contraste entre 1.934 dólares y 6,2 millones es la mejor forma de explicar por qué el churn importa.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preguntas son la columna vertebral: ordenan el diagnóstico, la memoria y las páginas del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API en lugar de un CSV adjunto es una decisión de reproducibilidad, no una comodidad.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19 consultas planificadas ejecuté 6. Cuando la evidencia dejó de ser sobre una variable y pasó a ser sobre la relación entre tablas, ninguna consulta más podía cambiar el veredicto.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clave de la presentación. Si solo se entiende una, que sea 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fases 3 y 4, en oscuro, son el giro: donde el proyecto deja de ser un diagnóstico y se convierte en otra cosa.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stack no se elige por costumbre: cada herramienta hace aquello para lo que es mejor.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señales de producto y las de soporte apuntan en la misma dirección: son dos caras del mismo deterioro.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no ejecuta nada solo: produce una lista que un equipo humano debe atender. Por eso la interpretabilidad era un requisito.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conviene pasar al dashboard en vivo y recorrer las cuatro páginas.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tercera recomendación es la más honesta: identifica un problema y reconoce que falta información para decidir.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los quince aprendizajes recogidos en la memoria, estos seis son los que mejor resumen el recorrido.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Cierro volviendo al principio: el proyecto no terminó donde empezó, y esa es su principal conclusión.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8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8-icono-512.png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10012680" y="4297680"/>
            <a:ext cx="1828800" cy="1828800"/>
          </a:xfrm>
          <a:prstGeom prst="rect">
            <a:avLst/>
          </a:prstGeom>
        </p:spPr>
      </p:pic>
      <p:pic>
        <p:nvPicPr>
          <p:cNvPr id="3" name="Image 1" descr="/mnt/user-data/uploads/06-logo-mono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822960"/>
            <a:ext cx="2377440" cy="6675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05740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14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Integrador</a:t>
            </a:r>
            <a:endParaRPr lang="en-US" sz="1450" dirty="0"/>
          </a:p>
        </p:txBody>
      </p:sp>
      <p:sp>
        <p:nvSpPr>
          <p:cNvPr id="5" name="Text 1"/>
          <p:cNvSpPr/>
          <p:nvPr/>
        </p:nvSpPr>
        <p:spPr>
          <a:xfrm>
            <a:off x="822960" y="2487168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y diagnóstico del abandono</a:t>
            </a:r>
            <a:endParaRPr lang="en-US" sz="37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clientes en una empresa SaaS</a:t>
            </a:r>
            <a:endParaRPr lang="en-US" sz="3700" dirty="0"/>
          </a:p>
        </p:txBody>
      </p:sp>
      <p:sp>
        <p:nvSpPr>
          <p:cNvPr id="6" name="Shape 2"/>
          <p:cNvSpPr/>
          <p:nvPr/>
        </p:nvSpPr>
        <p:spPr>
          <a:xfrm>
            <a:off x="841248" y="4069080"/>
            <a:ext cx="777240" cy="32004"/>
          </a:xfrm>
          <a:prstGeom prst="rect">
            <a:avLst/>
          </a:prstGeom>
          <a:solidFill>
            <a:srgbClr val="CD8517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43434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E9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Propuesta de un sistema de alerta temprana y recomendación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E9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funcionalidades para la retención.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22960" y="5852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Marta Quevedo Oltra  ·  Unicorn Academy · Edición 13.0</a:t>
            </a:r>
            <a:endParaRPr lang="en-US" sz="1150" dirty="0"/>
          </a:p>
        </p:txBody>
      </p:sp>
      <p:pic>
        <p:nvPicPr>
          <p:cNvPr id="9" name="Imagen 8" descr="Unicorn Face Emoji, Unicorn Face, Emoji, Transparent PNG Transparent Image  and Clipart for Free Download"/>
          <p:cNvPicPr/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7080" l="11120" r="90000">
                        <a14:foregroundMark x1="40120" y1="46840" x2="40120" y2="46840"/>
                        <a14:foregroundMark x1="63720" y1="46520" x2="63720" y2="46520"/>
                        <a14:foregroundMark x1="67760" y1="45840" x2="67760" y2="45840"/>
                        <a14:foregroundMark x1="36400" y1="46160" x2="36400" y2="461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449" y="5852160"/>
            <a:ext cx="377190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1-logo-hori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EL NEGOCIO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RavenStack y su modelo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empresa SaaS que vende por suscripción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" y="1737360"/>
            <a:ext cx="53949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920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modelo de negocio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30428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planes de pago: Basic, Pro y Enterprise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de prueba previo a la conversión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modalidad gratuita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376672" cy="1874520"/>
          </a:xfrm>
          <a:prstGeom prst="roundRect">
            <a:avLst>
              <a:gd name="adj" fmla="val 2439"/>
            </a:avLst>
          </a:prstGeom>
          <a:solidFill>
            <a:srgbClr val="00181E"/>
          </a:solidFill>
          <a:ln w="9525">
            <a:solidFill>
              <a:srgbClr val="00181E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920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importa la ausencia de tier gratuito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92240" y="230428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 modelo freemium, cancelar el pago no equivale a abandonar: el cliente puede seguir usando el producto. En RavenStack esa vía no existe, de modo que cancelar sí equivale a marcharse. Sin verificarlo primero, la definición operativa de churn habría quedado sin fundamento.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3840480"/>
            <a:ext cx="1095451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4041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objetivo del proyecto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4348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Diagnosticar el abandono de clientes: cuantificarlo, caracterizarlo, entender sus causas y, sobre esa base, proponer un mecanismo de retención accionable que un equipo pueda utilizar.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1-logo-hori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EL NEGOCIO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El problema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RavenStack pierde clientes y no sabe por qué ni a quién va a perder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25603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19385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04088" y="254203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cuentas en cartera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783080"/>
            <a:ext cx="25603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10712" y="19385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23,8 %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520440" y="254203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tasa de abandono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27064" y="1783080"/>
            <a:ext cx="25603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27064" y="19385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6,2 M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336792" y="254203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facturación perdida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043416" y="1783080"/>
            <a:ext cx="25603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43416" y="19385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1.934 $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153144" y="254203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coste en devoluciones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4360" y="3429000"/>
            <a:ext cx="10954512" cy="1325880"/>
          </a:xfrm>
          <a:prstGeom prst="roundRect">
            <a:avLst>
              <a:gd name="adj" fmla="val 3448"/>
            </a:avLst>
          </a:prstGeom>
          <a:solidFill>
            <a:srgbClr val="00181E"/>
          </a:solidFill>
          <a:ln w="9525">
            <a:solidFill>
              <a:srgbClr val="00181E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60120" y="36118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coste real no está en las devoluciones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60120" y="400507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devoluciones abonadas a los clientes que se marcharon suman 1.934 $. La facturación que esas cuentas ya no generarán asciende a 6,2 millones: tres mil veces más.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4360" y="50749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pregunta de partida:   ¿qué señal anticipa que un cliente va a cancelar?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1-logo-hori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EL NEGOCIO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Preguntas de negocio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preguntas encadenadas que ordenan todo el análisis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1095451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929384"/>
            <a:ext cx="365760" cy="365760"/>
          </a:xfrm>
          <a:prstGeom prst="ellipse">
            <a:avLst/>
          </a:prstGeom>
          <a:solidFill>
            <a:srgbClr val="007899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95681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Cuantificación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840480" y="1965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¿Cuánto churn hay y cuánto cuesta?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2560320"/>
            <a:ext cx="1095451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706624"/>
            <a:ext cx="365760" cy="365760"/>
          </a:xfrm>
          <a:prstGeom prst="ellipse">
            <a:avLst/>
          </a:prstGeom>
          <a:solidFill>
            <a:srgbClr val="007899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7340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Caracterización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840480" y="2743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¿Se van los clientes pequeños o los grandes?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3337560"/>
            <a:ext cx="1095451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3483864"/>
            <a:ext cx="365760" cy="365760"/>
          </a:xfrm>
          <a:prstGeom prst="ellipse">
            <a:avLst/>
          </a:prstGeom>
          <a:solidFill>
            <a:srgbClr val="007899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51129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630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840480" y="3520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se van y qué motivo cuesta más?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94360" y="4114800"/>
            <a:ext cx="1095451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4261104"/>
            <a:ext cx="365760" cy="365760"/>
          </a:xfrm>
          <a:prstGeom prst="ellipse">
            <a:avLst/>
          </a:prstGeom>
          <a:solidFill>
            <a:srgbClr val="CD8517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2885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46304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Anticipación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3840480" y="4297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señal temprana anticipa la baja?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94360" y="5029200"/>
            <a:ext cx="10954512" cy="960120"/>
          </a:xfrm>
          <a:prstGeom prst="roundRect">
            <a:avLst>
              <a:gd name="adj" fmla="val 4762"/>
            </a:avLst>
          </a:prstGeom>
          <a:solidFill>
            <a:srgbClr val="00181E"/>
          </a:solidFill>
          <a:ln w="9525">
            <a:solidFill>
              <a:srgbClr val="00181E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60120" y="523036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partir de la pregunta 4 se propone un sistema de alerta temprana y un recomendador de funcionalidades que, detectada una cuenta en riesgo, sugiera qué impulsar según el comportamiento de cuentas similares que sí se retuvieron.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1-logo-hori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EL PROBLEMA ENCONTRADO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 Origen de los datos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dónde salen y por qué se obtienen así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539496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965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conjunto de partida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359152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Subscription &amp; Churn Analytics, publicado en Kaggle por River @ Rivalytics. Cinco tablas relacionadas con 500 cuentas, 5.000 suscripciones, 25.000 eventos de uso, 2.000 incidencias y 600 eventos de baja.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76672" cy="1965960"/>
          </a:xfrm>
          <a:prstGeom prst="roundRect">
            <a:avLst>
              <a:gd name="adj" fmla="val 2326"/>
            </a:avLst>
          </a:prstGeom>
          <a:solidFill>
            <a:srgbClr val="00181E"/>
          </a:solidFill>
          <a:ln w="9525">
            <a:solidFill>
              <a:srgbClr val="00181E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965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Obtención mediante API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92240" y="235915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descarga se realiza con la librería kagglehub en Python. Es una decisión de replicabilidad: cualquiera que ejecute el notebook obtiene exactamente los mismos datos desde la fuente original, sin rutas locales ni ficheros adjuntos.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3977640"/>
            <a:ext cx="1095451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cinco tablas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14400" y="4526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 ·  subscriptions  ·  feature_usage  ·  support_tickets  ·  churn_events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4892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tabla de dimensiones y cuatro de hechos, enlazadas por account_id y subscription_id.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1-logo-hori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EL PROBLEMA ENCONTRADO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diagnóstico falla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Ninguna variable separaba a quien se marcha de quien se queda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53949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965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NO explica el abandono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100" dirty="0">
                <a:solidFill>
                  <a:srgbClr val="5C6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contratado           20,2 % – 28,1 %</a:t>
            </a:r>
            <a:endParaRPr lang="en-US" sz="11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100" dirty="0">
                <a:solidFill>
                  <a:srgbClr val="5C6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 de actividad       18,8 % – 28,3 %</a:t>
            </a:r>
            <a:endParaRPr lang="en-US" sz="11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100" dirty="0">
                <a:solidFill>
                  <a:srgbClr val="5C6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Tamaño de la cuenta       18,7 % – 27,8 %</a:t>
            </a:r>
            <a:endParaRPr lang="en-US" sz="11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100" dirty="0">
                <a:solidFill>
                  <a:srgbClr val="5C6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País                      sin capacidad predictiva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76672" cy="2011680"/>
          </a:xfrm>
          <a:prstGeom prst="roundRect">
            <a:avLst>
              <a:gd name="adj" fmla="val 2273"/>
            </a:avLst>
          </a:prstGeom>
          <a:solidFill>
            <a:srgbClr val="00181E"/>
          </a:solidFill>
          <a:ln w="9525">
            <a:solidFill>
              <a:srgbClr val="00181E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965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consulta que lo cambió todo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92240" y="2377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83,8 %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8823960" y="24231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las cuentas dadas de baja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registraba uso del producto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 de cancelar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" y="4023360"/>
            <a:ext cx="109545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Implicación:   </a:t>
            </a: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relación temporal entre tablas está rota. Ninguna métrica de anticipación puede sostenerse sobre ella.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94360" y="52120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Decisión:   la fase se cierra como auditoría de viabilidad del dato, no como diagnóstico de negocio.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8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6-logo-mon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EL PROBLEMA ENCONTRADO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¿No hay señal, o soy yo?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resultado negativo no vale nada si no puede distinguirse de un fallo propio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94360" y="1828800"/>
            <a:ext cx="10954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6CF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Construí un gemelo sintético: mismo esquema, mismos volúmenes, mismos defectos documentados — pero con una señal inyectada de magnitud conocida. Ejecuté el mismo pipeline sin cambiar una línea.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94360" y="2651760"/>
          <a:ext cx="5760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629400" y="2651760"/>
            <a:ext cx="4919472" cy="2743200"/>
          </a:xfrm>
          <a:prstGeom prst="roundRect">
            <a:avLst>
              <a:gd name="adj" fmla="val 1667"/>
            </a:avLst>
          </a:prstGeom>
          <a:solidFill>
            <a:srgbClr val="0E2A32"/>
          </a:solidFill>
          <a:ln w="9525">
            <a:solidFill>
              <a:srgbClr val="0E2A32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949440" y="2834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demuestra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949440" y="3246120"/>
            <a:ext cx="4343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6CF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 el control, el método no detecta nada: 0,99 es azar puro.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6CF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 las variantes con señal, la detecta con holgura.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6CF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Luego el silencio en el conjunto original es una propiedad del dato, no una limitación del análisis.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949440" y="48006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8FA0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 relación hallada en el gemelo fue inyectada por mí. No es un hallazgo de negocio: es una demostración sobre el método.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1-logo-hori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EL DESARROLLO TÉCNICO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🔀 Flujo de trabajo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Siete fases, dos conjuntos de datos y una decisión metodológica en medio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" y="1828800"/>
            <a:ext cx="1481328" cy="169164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52144" y="2011680"/>
            <a:ext cx="365760" cy="365760"/>
          </a:xfrm>
          <a:prstGeom prst="ellipse">
            <a:avLst/>
          </a:prstGeom>
          <a:solidFill>
            <a:srgbClr val="007899"/>
          </a:solidFill>
          <a:ln/>
        </p:spPr>
      </p:sp>
      <p:sp>
        <p:nvSpPr>
          <p:cNvPr id="8" name="Text 5"/>
          <p:cNvSpPr/>
          <p:nvPr/>
        </p:nvSpPr>
        <p:spPr>
          <a:xfrm>
            <a:off x="1152144" y="20391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248716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Extracción y EDA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29992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· API Kaggle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80844" y="1828800"/>
            <a:ext cx="1481328" cy="169164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38628" y="2011680"/>
            <a:ext cx="365760" cy="365760"/>
          </a:xfrm>
          <a:prstGeom prst="ellipse">
            <a:avLst/>
          </a:prstGeom>
          <a:solidFill>
            <a:srgbClr val="007899"/>
          </a:solidFill>
          <a:ln/>
        </p:spPr>
      </p:sp>
      <p:sp>
        <p:nvSpPr>
          <p:cNvPr id="13" name="Text 10"/>
          <p:cNvSpPr/>
          <p:nvPr/>
        </p:nvSpPr>
        <p:spPr>
          <a:xfrm>
            <a:off x="2738628" y="20391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244852" y="248716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Modelado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244852" y="29992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· 5 tablas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67328" y="1828800"/>
            <a:ext cx="1481328" cy="1691640"/>
          </a:xfrm>
          <a:prstGeom prst="roundRect">
            <a:avLst>
              <a:gd name="adj" fmla="val 3086"/>
            </a:avLst>
          </a:prstGeom>
          <a:solidFill>
            <a:srgbClr val="00181E"/>
          </a:solidFill>
          <a:ln w="9525">
            <a:solidFill>
              <a:srgbClr val="00181E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25112" y="2011680"/>
            <a:ext cx="365760" cy="365760"/>
          </a:xfrm>
          <a:prstGeom prst="ellipse">
            <a:avLst/>
          </a:prstGeom>
          <a:solidFill>
            <a:srgbClr val="CD8517"/>
          </a:solidFill>
          <a:ln/>
        </p:spPr>
      </p:sp>
      <p:sp>
        <p:nvSpPr>
          <p:cNvPr id="18" name="Text 15"/>
          <p:cNvSpPr/>
          <p:nvPr/>
        </p:nvSpPr>
        <p:spPr>
          <a:xfrm>
            <a:off x="4325112" y="20391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831336" y="248716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Auditoría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831336" y="29992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Veredicto: sin señal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353812" y="1828800"/>
            <a:ext cx="1481328" cy="1691640"/>
          </a:xfrm>
          <a:prstGeom prst="roundRect">
            <a:avLst>
              <a:gd name="adj" fmla="val 3086"/>
            </a:avLst>
          </a:prstGeom>
          <a:solidFill>
            <a:srgbClr val="00181E"/>
          </a:solidFill>
          <a:ln w="9525">
            <a:solidFill>
              <a:srgbClr val="00181E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11596" y="2011680"/>
            <a:ext cx="365760" cy="365760"/>
          </a:xfrm>
          <a:prstGeom prst="ellipse">
            <a:avLst/>
          </a:prstGeom>
          <a:solidFill>
            <a:srgbClr val="CD8517"/>
          </a:solidFill>
          <a:ln/>
        </p:spPr>
      </p:sp>
      <p:sp>
        <p:nvSpPr>
          <p:cNvPr id="23" name="Text 20"/>
          <p:cNvSpPr/>
          <p:nvPr/>
        </p:nvSpPr>
        <p:spPr>
          <a:xfrm>
            <a:off x="5911596" y="20391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17820" y="248716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de pruebas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17820" y="29992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Gemelo sintético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940296" y="1828800"/>
            <a:ext cx="1481328" cy="169164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498080" y="2011680"/>
            <a:ext cx="365760" cy="365760"/>
          </a:xfrm>
          <a:prstGeom prst="ellipse">
            <a:avLst/>
          </a:prstGeom>
          <a:solidFill>
            <a:srgbClr val="007899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0" y="20391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04304" y="248716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004304" y="29992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consultas SQL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526780" y="1828800"/>
            <a:ext cx="1481328" cy="169164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084564" y="2011680"/>
            <a:ext cx="365760" cy="365760"/>
          </a:xfrm>
          <a:prstGeom prst="ellipse">
            <a:avLst/>
          </a:prstGeom>
          <a:solidFill>
            <a:srgbClr val="007899"/>
          </a:solidFill>
          <a:ln/>
        </p:spPr>
      </p:sp>
      <p:sp>
        <p:nvSpPr>
          <p:cNvPr id="33" name="Text 30"/>
          <p:cNvSpPr/>
          <p:nvPr/>
        </p:nvSpPr>
        <p:spPr>
          <a:xfrm>
            <a:off x="9084564" y="20391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590788" y="248716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 temprana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590788" y="29992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+ validación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0113264" y="1828800"/>
            <a:ext cx="1481328" cy="169164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671048" y="2011680"/>
            <a:ext cx="365760" cy="365760"/>
          </a:xfrm>
          <a:prstGeom prst="ellipse">
            <a:avLst/>
          </a:prstGeom>
          <a:solidFill>
            <a:srgbClr val="007899"/>
          </a:solidFill>
          <a:ln/>
        </p:spPr>
      </p:sp>
      <p:sp>
        <p:nvSpPr>
          <p:cNvPr id="38" name="Text 35"/>
          <p:cNvSpPr/>
          <p:nvPr/>
        </p:nvSpPr>
        <p:spPr>
          <a:xfrm>
            <a:off x="10671048" y="20391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0177272" y="248716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0177272" y="29992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· 4 páginas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291840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  El giro del proyecto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594360" y="4251960"/>
            <a:ext cx="5394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914400" y="4434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914400" y="4800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diagnóstica: explorar, describir y detectar problemas de calidad. No modifica los datos.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6172200" y="4251960"/>
            <a:ext cx="5376672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6492240" y="4434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6492240" y="4800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correctiva y analítica: tipos, restricciones de integridad, vistas y todo el diagnóstico.</a:t>
            </a:r>
            <a:endParaRPr lang="en-US" sz="1250" dirty="0"/>
          </a:p>
        </p:txBody>
      </p:sp>
      <p:sp>
        <p:nvSpPr>
          <p:cNvPr id="48" name="CuadroTexto 47"/>
          <p:cNvSpPr txBox="1"/>
          <p:nvPr/>
        </p:nvSpPr>
        <p:spPr>
          <a:xfrm>
            <a:off x="4097216" y="745093"/>
            <a:ext cx="2428435" cy="30646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200" dirty="0" smtClean="0">
                <a:solidFill>
                  <a:schemeClr val="bg1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Python · </a:t>
            </a:r>
            <a:r>
              <a:rPr lang="es-ES" sz="1200" dirty="0" err="1" smtClean="0">
                <a:solidFill>
                  <a:schemeClr val="bg1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MySQL</a:t>
            </a:r>
            <a:r>
              <a:rPr lang="es-ES" sz="1200" dirty="0" smtClean="0">
                <a:solidFill>
                  <a:schemeClr val="bg1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· </a:t>
            </a:r>
            <a:r>
              <a:rPr lang="es-ES" sz="1200" dirty="0" err="1" smtClean="0">
                <a:solidFill>
                  <a:schemeClr val="bg1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Power</a:t>
            </a:r>
            <a:r>
              <a:rPr lang="es-ES" sz="1200" dirty="0" smtClean="0">
                <a:solidFill>
                  <a:schemeClr val="bg1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BI</a:t>
            </a:r>
            <a:endParaRPr lang="en-GB" sz="1200" dirty="0">
              <a:solidFill>
                <a:schemeClr val="bg1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1-logo-hori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EL DESARROLLO TÉCNICO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Decisiones metodológicas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se define el churn y por qué se reportan dos métricas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53949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947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de churn: logo churn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31343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Cancelación de la cuenta sin reactivación posterior. Una cuenta puede tener varias suscripciones a lo largo del tiempo; contar cada una como churn sobredimensionaría el problema, porque quien cambia de plan sigue siendo cliente.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76672" cy="1600200"/>
          </a:xfrm>
          <a:prstGeom prst="roundRect">
            <a:avLst>
              <a:gd name="adj" fmla="val 2857"/>
            </a:avLst>
          </a:prstGeom>
          <a:solidFill>
            <a:srgbClr val="00181E"/>
          </a:solidFill>
          <a:ln w="9525">
            <a:solidFill>
              <a:srgbClr val="00181E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reportan dos métricas, no una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92240" y="231343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cuentas van de 1 a 163 licencias. Perder diez pequeñas no equivale a perder diez grandes, pero el logo churn las trata igual: cuenta cabezas, no valor. Si el revenue churn supera al logo churn, se están perdiendo los clientes de mayor valor — una alarma cualitativamente distinta.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611880"/>
          <a:ext cx="10954512" cy="15361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2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Herramienta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Uso en el proyecto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Justificación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18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 (Notebook)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Extracción vía API, análisis exploratorio e ingesta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Flexibilidad para exploración y cálculo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18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MySQL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Modelado relacional, limpieza, consultas y vistas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 datos son relacionales; el análisis son operaciones de conjunto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18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 BI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Modelo en estrella, medidas DAX y dashboard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6B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Visualización y comunicación de resultados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1-logo-hori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EL DESARROLLO TÉCNICO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encontró el diagnóstico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es quién es el cliente, es lo que le pasa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6309360" cy="2029968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Trimestre previo a la baja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Perdidas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18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Acciones por sesión de uso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6B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10,35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D85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4,59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18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Sesiones en el trimestre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6B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30,0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D85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18,2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18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Errores técnicos por sesión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6B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0,475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D85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0,805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18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Satisfacción con soporte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6B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3,55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D85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2,86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18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Incidencias escaladas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6B6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7,2 %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D85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16,4 %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178040" y="1783080"/>
            <a:ext cx="4370832" cy="1325880"/>
          </a:xfrm>
          <a:prstGeom prst="roundRect">
            <a:avLst>
              <a:gd name="adj" fmla="val 3448"/>
            </a:avLst>
          </a:prstGeom>
          <a:solidFill>
            <a:srgbClr val="00181E"/>
          </a:solidFill>
          <a:ln w="9525">
            <a:solidFill>
              <a:srgbClr val="00181E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498080" y="1947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deterioro es gradual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498080" y="2286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desconexión total es igual de rara en ambos grupos: 1,7 % y 1,8 %. Nadie deja de usar el producto y luego cancela: se va apagando.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178040" y="3291840"/>
            <a:ext cx="437083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6" name="Text 7"/>
          <p:cNvSpPr/>
          <p:nvPr/>
        </p:nvSpPr>
        <p:spPr>
          <a:xfrm>
            <a:off x="7498080" y="3456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daño se concentra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498080" y="3794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30 % de cuentas mayores aporta el 64 % de los ingresos. Once bajas del decil superior cuestan cuatro veces más que cuarenta y dos del inferior.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4360" y="3977640"/>
            <a:ext cx="63093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14400" y="4142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diferencia se contrastó con su margen de error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914400" y="4480560"/>
            <a:ext cx="571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cinco señales lo superan. Otras dos apuntaban en la misma dirección sin alcanzarlo, y se reportaron como tendencia y no como hallazgo.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9436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riesgo es uniforme en toda la cartera. El impacto económico no lo es.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1-logo-hori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EL DESARROLLO TÉCNICO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sistema de alerta temprana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Seis señales, cruzadas con el valor expuesto de cada cuenta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210312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67512" y="248716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Intervención directa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" y="292608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1,68 M expuestos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26080" y="1783080"/>
            <a:ext cx="210312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92608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999232" y="248716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 proactivo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999232" y="292608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5,08 M expuestos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57800" y="1783080"/>
            <a:ext cx="210312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25780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E9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330952" y="248716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Campaña automatizada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30952" y="292608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2,22 M expuestos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72400" y="1783080"/>
            <a:ext cx="3776472" cy="1645920"/>
          </a:xfrm>
          <a:prstGeom prst="roundRect">
            <a:avLst>
              <a:gd name="adj" fmla="val 2778"/>
            </a:avLst>
          </a:prstGeom>
          <a:solidFill>
            <a:srgbClr val="00181E"/>
          </a:solidFill>
          <a:ln w="9525">
            <a:solidFill>
              <a:srgbClr val="00181E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092440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92440" y="2212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2,7×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8001000" y="28072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aciertos que elegir cuentas al azar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94360" y="3611880"/>
            <a:ext cx="53949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14400" y="3776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se validó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14400" y="41148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Retrocediendo al 30 de junio de 2024 y puntuando la cartera con información exclusivamente anterior a esa fecha, se observó quién se dio de baja en los 180 días siguientes. Las señaladas como riesgo alto abandonaron cinco veces más que las de riesgo bajo.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3611880"/>
            <a:ext cx="5376672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492240" y="3776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recomendador de funcionalidades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92240" y="41148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cada cuenta señalada se le proponen las funcionalidades que las cuentas sanas adoptan y ella no. El criterio es la brecha de adopción y no la popularidad: recomendar lo que ya usa todo el mundo no aporta información.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9436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Tarjeta de puntos, no modelo entrenado: una recomendación que nadie entiende es una recomendación que nadie usa.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1-logo-hori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EL DESARROLLO TÉCNICO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dashboard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páginas, una pregunta y un destinatario por página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25603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1965960"/>
            <a:ext cx="365760" cy="365760"/>
          </a:xfrm>
          <a:prstGeom prst="ellipse">
            <a:avLst/>
          </a:prstGeom>
          <a:solidFill>
            <a:srgbClr val="007899"/>
          </a:solidFill>
          <a:ln/>
        </p:spPr>
      </p:sp>
      <p:sp>
        <p:nvSpPr>
          <p:cNvPr id="8" name="Text 5"/>
          <p:cNvSpPr/>
          <p:nvPr/>
        </p:nvSpPr>
        <p:spPr>
          <a:xfrm>
            <a:off x="1691640" y="19933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450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Situación del negocio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¿Cuánto perdemos?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Dirección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10712" y="1783080"/>
            <a:ext cx="25603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07992" y="1965960"/>
            <a:ext cx="365760" cy="365760"/>
          </a:xfrm>
          <a:prstGeom prst="ellipse">
            <a:avLst/>
          </a:prstGeom>
          <a:solidFill>
            <a:srgbClr val="007899"/>
          </a:solidFill>
          <a:ln/>
        </p:spPr>
      </p:sp>
      <p:sp>
        <p:nvSpPr>
          <p:cNvPr id="14" name="Text 11"/>
          <p:cNvSpPr/>
          <p:nvPr/>
        </p:nvSpPr>
        <p:spPr>
          <a:xfrm>
            <a:off x="4507992" y="19933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47872" y="2450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 del abandono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547872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se van?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47872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Dirección y producto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27064" y="1783080"/>
            <a:ext cx="25603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24344" y="1965960"/>
            <a:ext cx="365760" cy="365760"/>
          </a:xfrm>
          <a:prstGeom prst="ellipse">
            <a:avLst/>
          </a:prstGeom>
          <a:solidFill>
            <a:srgbClr val="CD8517"/>
          </a:solidFill>
          <a:ln/>
        </p:spPr>
      </p:sp>
      <p:sp>
        <p:nvSpPr>
          <p:cNvPr id="20" name="Text 17"/>
          <p:cNvSpPr/>
          <p:nvPr/>
        </p:nvSpPr>
        <p:spPr>
          <a:xfrm>
            <a:off x="7324344" y="19933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64224" y="2450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Cartera viva en riesgo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364224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¿A quién atender?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64224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Success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43416" y="1783080"/>
            <a:ext cx="25603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140696" y="1965960"/>
            <a:ext cx="365760" cy="365760"/>
          </a:xfrm>
          <a:prstGeom prst="ellipse">
            <a:avLst/>
          </a:prstGeom>
          <a:solidFill>
            <a:srgbClr val="CD8517"/>
          </a:solidFill>
          <a:ln/>
        </p:spPr>
      </p:sp>
      <p:sp>
        <p:nvSpPr>
          <p:cNvPr id="26" name="Text 23"/>
          <p:cNvSpPr/>
          <p:nvPr/>
        </p:nvSpPr>
        <p:spPr>
          <a:xfrm>
            <a:off x="10140696" y="19933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180576" y="2450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acción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180576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hacer con cada cuenta?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180576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Success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94360" y="4251960"/>
            <a:ext cx="10954512" cy="1371600"/>
          </a:xfrm>
          <a:prstGeom prst="roundRect">
            <a:avLst>
              <a:gd name="adj" fmla="val 3333"/>
            </a:avLst>
          </a:prstGeom>
          <a:solidFill>
            <a:srgbClr val="00181E"/>
          </a:solidFill>
          <a:ln w="9525">
            <a:solidFill>
              <a:srgbClr val="00181E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60120" y="4434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modelo de datos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60120" y="477316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en estrella sobre las vistas de MySQL, con una tabla central que reúne los atributos estables del cliente y dos tablas relacionadas con lo que le ocurre y las funcionalidades propuestas. Las dos primeras páginas se leen y se cierran; las dos últimas son herramientas de trabajo semanal.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1-logo-hori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Recomendaciones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acciones priorizadas por facturación expuesta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10954512" cy="112471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103120"/>
            <a:ext cx="475488" cy="475488"/>
          </a:xfrm>
          <a:prstGeom prst="ellipse">
            <a:avLst/>
          </a:prstGeom>
          <a:solidFill>
            <a:srgbClr val="CD851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15798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27632" y="1956816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Priorizar por valor, no por riesgo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627632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probabilidad de cancelar es uniforme en toda la cartera, pero el 30 % superior concentra el 64 % de los ingresos. Atender primero las 13 cuentas de intervención directa protege 1,68 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3063240"/>
            <a:ext cx="10954512" cy="112471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383280"/>
            <a:ext cx="475488" cy="475488"/>
          </a:xfrm>
          <a:prstGeom prst="ellipse">
            <a:avLst/>
          </a:prstGeom>
          <a:solidFill>
            <a:srgbClr val="007899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3814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27632" y="3236976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Intervenir en los tiempos de soporte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627632" y="3566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cuentas que acaban marchándose esperan un 25 % más por la resolución y ven escalar sus incidencias más del doble. Compromiso de servicio diferenciado para el tercio superior de facturación.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4343400"/>
            <a:ext cx="10954512" cy="112471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14400" y="4663440"/>
            <a:ext cx="475488" cy="475488"/>
          </a:xfrm>
          <a:prstGeom prst="ellipse">
            <a:avLst/>
          </a:prstGeom>
          <a:solidFill>
            <a:srgbClr val="007899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71830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627632" y="4517136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la calidad del canal de captación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627632" y="4846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publicidad de pago capta clientes que cancelan cuatro veces más que la búsqueda orgánica. Falta el coste de adquisición por canal para decidir: hoy se presupuesta sin ese dato.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5669280"/>
            <a:ext cx="10954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datos no recogen coste de adquisición ni coste operativo, de modo que el retorno de estas acciones no puede cuantificarse.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1-logo-hori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92608"/>
            <a:ext cx="1481328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D85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61264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💭 Aprendizajes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Seis ideas que este proyecto me dejó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534924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39112"/>
            <a:ext cx="41148" cy="658368"/>
          </a:xfrm>
          <a:prstGeom prst="rect">
            <a:avLst/>
          </a:prstGeom>
          <a:solidFill>
            <a:srgbClr val="CD8517"/>
          </a:solidFill>
          <a:ln/>
        </p:spPr>
      </p:sp>
      <p:sp>
        <p:nvSpPr>
          <p:cNvPr id="8" name="Text 5"/>
          <p:cNvSpPr/>
          <p:nvPr/>
        </p:nvSpPr>
        <p:spPr>
          <a:xfrm>
            <a:off x="1069848" y="19842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nulo puede ser información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9848" y="231343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4.514 end_date vacíos significaban «suscripción activa». Rellenarlos habría destruido el dato.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34924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039112"/>
            <a:ext cx="41148" cy="658368"/>
          </a:xfrm>
          <a:prstGeom prst="rect">
            <a:avLst/>
          </a:prstGeom>
          <a:solidFill>
            <a:srgbClr val="CD8517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19842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hipótesis se contrastan, no se asumen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75120" y="231343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 hipótesis del downgrade como señal temprana quedó desmentida: el upgrade previo duplicaba al downgrade.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" y="3154680"/>
            <a:ext cx="534924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3410712"/>
            <a:ext cx="41148" cy="658368"/>
          </a:xfrm>
          <a:prstGeom prst="rect">
            <a:avLst/>
          </a:prstGeom>
          <a:solidFill>
            <a:srgbClr val="CD8517"/>
          </a:solidFill>
          <a:ln/>
        </p:spPr>
      </p:sp>
      <p:sp>
        <p:nvSpPr>
          <p:cNvPr id="16" name="Text 13"/>
          <p:cNvSpPr/>
          <p:nvPr/>
        </p:nvSpPr>
        <p:spPr>
          <a:xfrm>
            <a:off x="1069848" y="3355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resultado negativo es un resultado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69848" y="368503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Demostrar que los datos no permiten responder es una aportación, siempre que se establezca con evidencia.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99632" y="3154680"/>
            <a:ext cx="534924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73952" y="3410712"/>
            <a:ext cx="41148" cy="658368"/>
          </a:xfrm>
          <a:prstGeom prst="rect">
            <a:avLst/>
          </a:prstGeom>
          <a:solidFill>
            <a:srgbClr val="CD8517"/>
          </a:solidFill>
          <a:ln/>
        </p:spPr>
      </p:sp>
      <p:sp>
        <p:nvSpPr>
          <p:cNvPr id="20" name="Text 17"/>
          <p:cNvSpPr/>
          <p:nvPr/>
        </p:nvSpPr>
        <p:spPr>
          <a:xfrm>
            <a:off x="6675120" y="3355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denominador decide la pregunta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75120" y="368503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Dividir el revenue churn entre el ARR vivo en lugar del total daba 28,6 % y la conclusión invertida.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94360" y="4526280"/>
            <a:ext cx="534924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68680" y="4782312"/>
            <a:ext cx="41148" cy="658368"/>
          </a:xfrm>
          <a:prstGeom prst="rect">
            <a:avLst/>
          </a:prstGeom>
          <a:solidFill>
            <a:srgbClr val="CD8517"/>
          </a:solidFill>
          <a:ln/>
        </p:spPr>
      </p:sp>
      <p:sp>
        <p:nvSpPr>
          <p:cNvPr id="24" name="Text 21"/>
          <p:cNvSpPr/>
          <p:nvPr/>
        </p:nvSpPr>
        <p:spPr>
          <a:xfrm>
            <a:off x="1069848" y="47274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diferencia no es un hallazgo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69848" y="505663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Hasta compararla con su margen de error. La tasa de escalado parecía contundente y era la más débil.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99632" y="4526280"/>
            <a:ext cx="534924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DDE2E3"/>
            </a:solidFill>
            <a:prstDash val="solid"/>
          </a:ln>
          <a:effectLst>
            <a:outerShdw blurRad="88900" dist="12700" dir="5400000" algn="bl" rotWithShape="0">
              <a:srgbClr val="AEB6B8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73952" y="4782312"/>
            <a:ext cx="41148" cy="658368"/>
          </a:xfrm>
          <a:prstGeom prst="rect">
            <a:avLst/>
          </a:prstGeom>
          <a:solidFill>
            <a:srgbClr val="CD8517"/>
          </a:solidFill>
          <a:ln/>
        </p:spPr>
      </p:sp>
      <p:sp>
        <p:nvSpPr>
          <p:cNvPr id="28" name="Text 25"/>
          <p:cNvSpPr/>
          <p:nvPr/>
        </p:nvSpPr>
        <p:spPr>
          <a:xfrm>
            <a:off x="6675120" y="47274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8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interpretabilidad es un requisito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675120" y="505663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una limitación técnica. Un sistema que nadie entiende es un sistema que nadie usa.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8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08-icono-512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9921240" y="4434840"/>
            <a:ext cx="1828800" cy="1828800"/>
          </a:xfrm>
          <a:prstGeom prst="rect">
            <a:avLst/>
          </a:prstGeom>
        </p:spPr>
      </p:pic>
      <p:pic>
        <p:nvPicPr>
          <p:cNvPr id="3" name="Image 1" descr="/mnt/user-data/uploads/06-logo-mono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749808"/>
            <a:ext cx="2194560" cy="6126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demuestra este proyecto</a:t>
            </a:r>
            <a:endParaRPr lang="en-US" sz="3100" dirty="0"/>
          </a:p>
        </p:txBody>
      </p:sp>
      <p:sp>
        <p:nvSpPr>
          <p:cNvPr id="5" name="Shape 1"/>
          <p:cNvSpPr/>
          <p:nvPr/>
        </p:nvSpPr>
        <p:spPr>
          <a:xfrm>
            <a:off x="841248" y="2798064"/>
            <a:ext cx="41148" cy="566928"/>
          </a:xfrm>
          <a:prstGeom prst="rect">
            <a:avLst/>
          </a:prstGeom>
          <a:solidFill>
            <a:srgbClr val="CD8517"/>
          </a:solidFill>
          <a:ln/>
        </p:spPr>
      </p:sp>
      <p:sp>
        <p:nvSpPr>
          <p:cNvPr id="6" name="Text 2"/>
          <p:cNvSpPr/>
          <p:nvPr/>
        </p:nvSpPr>
        <p:spPr>
          <a:xfrm>
            <a:off x="1143000" y="26974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resultado negativo bien establecido vale tanto como uno positivo.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143000" y="30632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Demostrar que los datos no permiten responder es una aportación, no un fracaso.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841248" y="3803904"/>
            <a:ext cx="41148" cy="566928"/>
          </a:xfrm>
          <a:prstGeom prst="rect">
            <a:avLst/>
          </a:prstGeom>
          <a:solidFill>
            <a:srgbClr val="CD8517"/>
          </a:solidFill>
          <a:ln/>
        </p:spPr>
      </p:sp>
      <p:sp>
        <p:nvSpPr>
          <p:cNvPr id="9" name="Text 5"/>
          <p:cNvSpPr/>
          <p:nvPr/>
        </p:nvSpPr>
        <p:spPr>
          <a:xfrm>
            <a:off x="1143000" y="37033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método puede validarse a sí mismo.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43000" y="40690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banco de pruebas convierte «no encuentro nada» en «he comprobado que no hay nada».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41248" y="4809744"/>
            <a:ext cx="41148" cy="566928"/>
          </a:xfrm>
          <a:prstGeom prst="rect">
            <a:avLst/>
          </a:prstGeom>
          <a:solidFill>
            <a:srgbClr val="CD8517"/>
          </a:solidFill>
          <a:ln/>
        </p:spPr>
      </p:sp>
      <p:sp>
        <p:nvSpPr>
          <p:cNvPr id="12" name="Text 8"/>
          <p:cNvSpPr/>
          <p:nvPr/>
        </p:nvSpPr>
        <p:spPr>
          <a:xfrm>
            <a:off x="1143000" y="47091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interpretabilidad es un requisito, no una limitación.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143000" y="50749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sistema que nadie entiende es un sistema que nadie usa.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296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  ·  Marta Quevedo Oltra  ·  Unicorn Academy · Edición 13.0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2237</Words>
  <Application>Microsoft Office PowerPoint</Application>
  <PresentationFormat>Panorámica</PresentationFormat>
  <Paragraphs>266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2026-08-17T11:54:39Z</dcterms:created>
  <dcterms:modified xsi:type="dcterms:W3CDTF">2026-08-17T12:12:32Z</dcterms:modified>
</cp:coreProperties>
</file>